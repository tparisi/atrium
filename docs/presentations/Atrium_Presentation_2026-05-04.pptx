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336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Metaverse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Update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69164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multiplayer 3D world platform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glTF and WebSockets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0" y="32004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starter kit for a metaverse for everyone, that nobody controls — fully built on open standards, all open source. Now spanning eight packages, 311 tests, and a full pointer/interaction stack.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4572000"/>
            <a:ext cx="996696" cy="3657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457200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2.0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05856" y="4572000"/>
            <a:ext cx="1188720" cy="3657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05856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31736" y="4572000"/>
            <a:ext cx="996696" cy="3657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31736" y="4572000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65592" y="4572000"/>
            <a:ext cx="900684" cy="3657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65592" y="4572000"/>
            <a:ext cx="900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03436" y="4572000"/>
            <a:ext cx="1572768" cy="3657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03436" y="45720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glTF-Transform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13364" y="4572000"/>
            <a:ext cx="1188720" cy="3657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13364" y="4572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Modules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6126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6400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github.com/tparisi/atrium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 — unchanged since day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5760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&amp; 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is a URL. No account required to view. No app to install.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23444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3657600" cy="73152"/>
          </a:xfrm>
          <a:prstGeom prst="rect">
            <a:avLst/>
          </a:prstGeom>
          <a:solidFill>
            <a:srgbClr val="3B7BD6"/>
          </a:solidFill>
          <a:ln w="12700">
            <a:solidFill>
              <a:srgbClr val="3B7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First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011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renders immediately. Server connection is optional. Graceful degradation built 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23444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1234440"/>
            <a:ext cx="3657600" cy="73152"/>
          </a:xfrm>
          <a:prstGeom prst="rect">
            <a:avLst/>
          </a:prstGeom>
          <a:solidFill>
            <a:srgbClr val="7A5BD8"/>
          </a:solidFill>
          <a:ln w="12700">
            <a:solidFill>
              <a:srgbClr val="7A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Second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2011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layers on top. World is visible before server connects. Offline = scene still works.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11247120" cy="960120"/>
          </a:xfrm>
          <a:prstGeom prst="rect">
            <a:avLst/>
          </a:prstGeom>
          <a:solidFill>
            <a:srgbClr val="182B40"/>
          </a:solidFill>
          <a:ln w="12700">
            <a:solidFill>
              <a:srgbClr val="182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"Atrium should feel like a browser, not a platform. You navigate to a world, it loads, you're there."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Sequence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2468880" cy="594360"/>
          </a:xfrm>
          <a:prstGeom prst="rect">
            <a:avLst/>
          </a:prstGeom>
          <a:solidFill>
            <a:srgbClr val="28C8B0"/>
          </a:solidFill>
          <a:ln w="9525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5440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.atrium.json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54406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5440680"/>
            <a:ext cx="2468880" cy="59436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5440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glTF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54406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26480" y="5440680"/>
            <a:ext cx="2468880" cy="59436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5440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WS server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0" y="54406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961120" y="5440680"/>
            <a:ext cx="2468880" cy="59436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0" y="5440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world state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— content, protocol, runtime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5760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glTF 2.0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is a .gltf 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glTF viewer can render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 metadata in extras.atrium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description · navigation · background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3657600" cy="73152"/>
          </a:xfrm>
          <a:prstGeom prst="rect">
            <a:avLst/>
          </a:prstGeom>
          <a:solidFill>
            <a:srgbClr val="3B7BD6"/>
          </a:solidFill>
          <a:ln w="12700">
            <a:solidFill>
              <a:srgbClr val="3B7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Layer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B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— Scene Object Protocol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2860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WebSocket, Ajv validated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@atrium/protocol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som-dump on connect carries full state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send/set echoed; view fire-and-forget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23444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1234440"/>
            <a:ext cx="3657600" cy="73152"/>
          </a:xfrm>
          <a:prstGeom prst="rect">
            <a:avLst/>
          </a:prstGeom>
          <a:solidFill>
            <a:srgbClr val="7A5BD8"/>
          </a:solidFill>
          <a:ln w="12700">
            <a:solidFill>
              <a:srgbClr val="7A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+ Client + Renderer-Three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22860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DOM-inspired API over glTF-Transform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Symmetric: same SOM on client &amp; server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AtriumClient is renderer-neutral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@atrium/renderer-three is the Three.js seam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solidFill>
            <a:srgbClr val="182B40"/>
          </a:solidFill>
          <a:ln w="12700">
            <a:solidFill>
              <a:srgbClr val="182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is world state.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the SOMDocument and you have serialized the world — geometry, metadata, animation playback state, and ephemeral avatars all round-trip through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som-dump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— Scene Object Protocol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WebSocket  ·  Ajv-validated  ·  every message carries seq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session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check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node field — broadcasts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node to the world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named node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3840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observer position &amp; state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CLIENT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78308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established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19456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ping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60604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0956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at negotiated interval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01752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0956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world state update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42900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/ remove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0956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lifecycle broadcast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84048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/ leave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09560" y="3840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presence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425196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9560" y="4251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observer state relay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466344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1792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som-dump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09560" y="4663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SOM state on connect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5074920"/>
            <a:ext cx="1554480" cy="36576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17920" y="5074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09560" y="5074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message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semantics: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send/set echoed to sender  ·  view fire-and-forget, last-write-wins  ·  set targets any named SOM object via getObjectByName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Scene Object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DOM-inspired API over glTF-Transform  ·  symmetric server + client  ·  109 tests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Hierarchy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760720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SOMDocument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— extras, factories, lookups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SOMScene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addChild / removeChild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5760720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SOMNode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rotation, scale, visible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SOMMesh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primitives, weights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5760720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SOMPrimitive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material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SOMMaterial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 — baseColor, metallic, alpha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5760720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SOMCamera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/ orthographic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SOMAnimation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pause / stop, playback object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5760720" cy="36576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SOMTexture / SOMSkin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 v0.1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1234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160020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92240" y="1600200"/>
            <a:ext cx="521208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1709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events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1984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setter fires a 'mutation' event. Zero-cost when no listener. Drives client→server sync and renderer reconciliation.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256032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92240" y="2560320"/>
            <a:ext cx="521208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2084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namespace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0840" y="2944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_objectsByName Map. som.getObjectByName('Crate') → SOMNode. som.getObjectByName('WalkCycle') → SOMAnimation. Uniform protocol routing.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92240" y="352044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92240" y="3520440"/>
            <a:ext cx="521208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2084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dispatch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20840" y="3904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SOMObject also routes pointer events. pointerover/out/down/up/move/click. Leaf-only today; bubbling on the design backlog.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92240" y="448056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92240" y="4480560"/>
            <a:ext cx="521208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20840" y="45902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caching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20840" y="4864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identity: getNodeByName('x') === getNodeByName('x'). Full graph built once; O(1) lookups thereafter.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182B40"/>
          </a:solidFill>
          <a:ln w="12700">
            <a:solidFill>
              <a:srgbClr val="182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som.getObjectByName('Crate').translation = [1, 0, 2]   →   mutation event   →   set message   →   broadcast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uniform write path: SOM setter → mutation event → AtriumClient → wire → server → broadcast → peer SOMs reconcile.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Avatars &amp; Navigation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four headless controllers in @atrium/client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SOMAnimation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glTF-Transform Animation with multiplayer-aware playback state.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A9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compound property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4206240" cy="2331720"/>
          </a:xfrm>
          <a:prstGeom prst="rect">
            <a:avLst/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playing: 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paused: 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loop: 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autoStart: 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timeScale: 1.0,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startTime: 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startWallClock: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pauseTime: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 to playback fires one mutation → one set message → atomic state transition.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234440"/>
            <a:ext cx="6400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49240" y="1234440"/>
            <a:ext cx="6400800" cy="73152"/>
          </a:xfrm>
          <a:prstGeom prst="rect">
            <a:avLst/>
          </a:prstGeom>
          <a:solidFill>
            <a:srgbClr val="3B7BD6"/>
          </a:solidFill>
          <a:ln w="12700">
            <a:solidFill>
              <a:srgbClr val="3B7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AvatarController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1737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peer avatar lifecycle.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2057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nodes are regular SOM nodes — ephemeral per session, stamped extras.atrium.ephemeral = true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identity = avatar node identity. displayName = User-${sessionId.slice(0,4)}; node name equals displayName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own geometry — passed as a descriptor to client.connect(); AtriumClient stamps the 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peer:join / peer:leave / peer:view to mount, dismiss, and update peers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794760"/>
            <a:ext cx="64008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9240" y="3794760"/>
            <a:ext cx="6400800" cy="73152"/>
          </a:xfrm>
          <a:prstGeom prst="rect">
            <a:avLst/>
          </a:prstGeom>
          <a:solidFill>
            <a:srgbClr val="7A5BD8"/>
          </a:solidFill>
          <a:ln w="12700">
            <a:solidFill>
              <a:srgbClr val="7A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NavigationController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 navigation; broadcasts observer state via view.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5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4617720"/>
            <a:ext cx="493776" cy="274320"/>
          </a:xfrm>
          <a:prstGeom prst="rect">
            <a:avLst/>
          </a:prstGeom>
          <a:solidFill>
            <a:srgbClr val="7A5BD8"/>
          </a:solidFill>
          <a:ln w="9525">
            <a:solidFill>
              <a:srgbClr val="7A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461772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0336" y="4617720"/>
            <a:ext cx="571500" cy="274320"/>
          </a:xfrm>
          <a:prstGeom prst="rect">
            <a:avLst/>
          </a:prstGeom>
          <a:solidFill>
            <a:srgbClr val="7A5BD8"/>
          </a:solidFill>
          <a:ln w="9525">
            <a:solidFill>
              <a:srgbClr val="7A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60336" y="4617720"/>
            <a:ext cx="571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23276" y="4617720"/>
            <a:ext cx="416052" cy="27432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23276" y="4617720"/>
            <a:ext cx="416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30768" y="4617720"/>
            <a:ext cx="804672" cy="274320"/>
          </a:xfrm>
          <a:prstGeom prst="rect">
            <a:avLst/>
          </a:prstGeom>
          <a:solidFill>
            <a:srgbClr val="F7F9F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30768" y="4617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49377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/ planned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5257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message: position, look, move, velocity (+ optional up) — fire-and-forget, last-write-wins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NavigationInfo authored in extras.atrium.navigation: mode array, terrainFollowing, speed range, updateRate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+ ORBIT shipped; FLY, terrain-following, gravity, dead-reckoning are deferred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&amp; Interaction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32–35  ·  layered headless dispatch with policy at the top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029200" cy="64008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550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 PointerEvent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native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5029200" cy="64008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496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C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PointerInputBridge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@atrium/renderer-three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81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5029200" cy="64008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C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client.dispatchPointerEvent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30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@atrium/client — capture, hover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2277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5029200" cy="64008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178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C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SOMObject._dispatchEvent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471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@atrium/som — leaf dispatch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6402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4965192"/>
            <a:ext cx="5029200" cy="64008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020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Listener handlers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3126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@atrium/interaction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1280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1600200"/>
            <a:ext cx="5852160" cy="137160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52160" y="1600200"/>
            <a:ext cx="73152" cy="137160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1709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@atrium/renderer-three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1709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2057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seam. PointerInputBridge owns hit-testing, NDC math, walk-up-by-name, and capture-coexistence. Constructor + dispose — entire surface. 19 tests.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3081528"/>
            <a:ext cx="5852160" cy="137160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52160" y="3081528"/>
            <a:ext cx="73152" cy="137160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3191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@atrium/interaction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31912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5387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policy. Selection model — nearestNonMeshAncestor, leafOnly, resolveSelectionRoot. The lamp problem solved without bubbling. 9 tests.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52160" y="4562856"/>
            <a:ext cx="5852160" cy="137160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52160" y="4562856"/>
            <a:ext cx="73152" cy="137160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0" y="46725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AtriumClient pointer 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0" y="46725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502005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dispatchPointerEvent · setPointerCapture · releasePointerCapture · hasPointerCapture. Renderer-neutral; no Three.js leaks through event detail.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before run: 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leaf-only dispatch · mouse only · no rotate/scale · no bubbling — each a deliberate "add when we have a use case."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workspaces  ·  ES modules  ·  no TypeScript, no build step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76072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73152" cy="457200"/>
          </a:xfrm>
          <a:prstGeom prst="rect">
            <a:avLst/>
          </a:prstGeom>
          <a:solidFill>
            <a:srgbClr val="3B7BD6"/>
          </a:solidFill>
          <a:ln w="12700">
            <a:solidFill>
              <a:srgbClr val="3B7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@atrium/protocol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message schemas + Ajv validator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76072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73152" cy="45720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@atrium/som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Object Model — DOM-inspired API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76072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73152" cy="457200"/>
          </a:xfrm>
          <a:prstGeom prst="rect">
            <a:avLst/>
          </a:prstGeom>
          <a:solidFill>
            <a:srgbClr val="7A5BD8"/>
          </a:solidFill>
          <a:ln w="12700">
            <a:solidFill>
              <a:srgbClr val="7A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@atrium/server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world server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576072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73152" cy="457200"/>
          </a:xfrm>
          <a:prstGeom prst="rect">
            <a:avLst/>
          </a:prstGeom>
          <a:solidFill>
            <a:srgbClr val="2EAE6A"/>
          </a:solidFill>
          <a:ln w="12700">
            <a:solidFill>
              <a:srgbClr val="2EA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154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@atrium/client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89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AtriumClient + controllers, headless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576072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73152" cy="457200"/>
          </a:xfrm>
          <a:prstGeom prst="rect">
            <a:avLst/>
          </a:prstGeom>
          <a:solidFill>
            <a:srgbClr val="E0A92F"/>
          </a:solidFill>
          <a:ln w="12700">
            <a:solidFill>
              <a:srgbClr val="E0A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@atrium/interaction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0896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policy — selection 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576072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D24D4D"/>
          </a:solidFill>
          <a:ln w="12700">
            <a:solidFill>
              <a:srgbClr val="D2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@atrium/renderer-three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0896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glue — bridge, drag-math, hit-test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576072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73152" cy="457200"/>
          </a:xfrm>
          <a:prstGeom prst="rect">
            <a:avLst/>
          </a:prstGeom>
          <a:solidFill>
            <a:srgbClr val="8B96A6"/>
          </a:solidFill>
          <a:ln w="12700">
            <a:solidFill>
              <a:srgbClr val="8B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@atrium/gltf-extension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10896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ATRIUM_world extension  [coming]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1234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92240" y="1645920"/>
            <a:ext cx="521208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7512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92440" y="1645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— Three.js viewport, navigation, avatars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92240" y="2148840"/>
            <a:ext cx="521208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7512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playground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092440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Pointer-event test bench (Session 34)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92240" y="2834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9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92240" y="3246120"/>
            <a:ext cx="521208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7512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protocol-inspector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41248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interactive protocol debugger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92240" y="3749040"/>
            <a:ext cx="5212080" cy="45720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7512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som-inspector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41248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tree, property sheet, world info, animations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92240" y="5212080"/>
            <a:ext cx="5212080" cy="960120"/>
          </a:xfrm>
          <a:prstGeom prst="rect">
            <a:avLst/>
          </a:prstGeom>
          <a:solidFill>
            <a:srgbClr val="182B40"/>
          </a:solidFill>
          <a:ln w="12700">
            <a:solidFill>
              <a:srgbClr val="182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29400" y="5257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</a:t>
            </a:r>
            <a:endParaRPr lang="en-US" sz="4800" dirty="0"/>
          </a:p>
        </p:txBody>
      </p:sp>
      <p:sp>
        <p:nvSpPr>
          <p:cNvPr id="50" name="Text 48"/>
          <p:cNvSpPr/>
          <p:nvPr/>
        </p:nvSpPr>
        <p:spPr>
          <a:xfrm>
            <a:off x="8092440" y="5349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across all packages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092440" y="5669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46 · SOM 109 · server ~38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96 · renderer-three 19 · interaction 9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 Session 35  ·  May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749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749040" cy="73152"/>
          </a:xfrm>
          <a:prstGeom prst="rect">
            <a:avLst/>
          </a:prstGeom>
          <a:solidFill>
            <a:srgbClr val="3B7BD6"/>
          </a:solidFill>
          <a:ln w="12700">
            <a:solidFill>
              <a:srgbClr val="3B7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&amp; SOM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SOP message types, full Ajv validation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full object hierarchy + mutation events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namespace via getObjectByName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som-dump on connect — full state transfer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749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3749040" cy="73152"/>
          </a:xfrm>
          <a:prstGeom prst="rect">
            <a:avLst/>
          </a:prstGeom>
          <a:solidFill>
            <a:srgbClr val="7A5BD8"/>
          </a:solidFill>
          <a:ln w="12700">
            <a:solidFill>
              <a:srgbClr val="7A5B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lifecycle, presence, broadcast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reference resolution at startup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.atrium.json consumption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som-dump filtering for external nodes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234440"/>
            <a:ext cx="3749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1234440"/>
            <a:ext cx="3749040" cy="73152"/>
          </a:xfrm>
          <a:prstGeom prst="rect">
            <a:avLst/>
          </a:prstGeom>
          <a:solidFill>
            <a:srgbClr val="2EAE6A"/>
          </a:solidFill>
          <a:ln w="12700">
            <a:solidFill>
              <a:srgbClr val="2EA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9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(headless)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1874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AtriumClient + Avatar/Nav/Animation controllers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prevention + wallclock-derived seek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peerCount with local-avatar exclusion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dispatch + capture + hover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3749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749040" cy="73152"/>
          </a:xfrm>
          <a:prstGeom prst="rect">
            <a:avLst/>
          </a:prstGeom>
          <a:solidFill>
            <a:srgbClr val="E0A92F"/>
          </a:solidFill>
          <a:ln w="12700">
            <a:solidFill>
              <a:srgbClr val="E0A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Arc (27–31)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playback state machine on SOMAnimation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autoStart authoring field, peer-aware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reconciliation via replayPlaying...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completion sync via mixer 'finished'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3749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3749040" cy="73152"/>
          </a:xfrm>
          <a:prstGeom prst="rect">
            <a:avLst/>
          </a:prstGeom>
          <a:solidFill>
            <a:srgbClr val="D24D4D"/>
          </a:solidFill>
          <a:ln w="12700">
            <a:solidFill>
              <a:srgbClr val="D2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Arc (32–34)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4480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AtriumClient pointer API — capture, hover, click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PointerInputBridge in @atrium/renderer-three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call sites: client, inspector, playground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World-plane drag in the SOM Inspector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21040" y="3840480"/>
            <a:ext cx="3749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0" y="3840480"/>
            <a:ext cx="3749040" cy="73152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4964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(35) 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49640" y="4480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@atrium/interaction package launched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model — nearestNonMeshAncestor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leafOnly + resolveSelectionRoot policies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C: heuristic + Alt-descend in apps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6144768"/>
            <a:ext cx="11247120" cy="320040"/>
          </a:xfrm>
          <a:prstGeom prst="rect">
            <a:avLst/>
          </a:prstGeom>
          <a:solidFill>
            <a:srgbClr val="182B40"/>
          </a:solidFill>
          <a:ln w="12700">
            <a:solidFill>
              <a:srgbClr val="182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UX polish · pointer-events polish · pointer-event bubbling design · ATRIUM_interactivity extension · ATRIUM_world extension formalization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invariants  ·  never violated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before code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157276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a settled brief.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1188720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53128" y="1353312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5312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128016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throwaway 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01768" y="157276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tested against real implementation.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74736" y="1188720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11896" y="1353312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11896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60536" y="128016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correctness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60536" y="157276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fully working before the next is built on top.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075688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216712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on the wire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" y="245973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carries glTF node descriptors directly.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15968" y="2075688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53128" y="2240280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5312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01768" y="216712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 policy-free on geometry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01768" y="245973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never constructs or interprets meshes.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74736" y="2075688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11896" y="2240280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1189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0536" y="216712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AtriumClient is geometry-agnostic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860536" y="245973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descriptor is opaque to the client.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962656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4360" y="3127248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" y="305409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is the source of truth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43000" y="334670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world state mutations go through the SOM.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15968" y="2962656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53128" y="3127248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5312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01768" y="305409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first, multiplayer second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01768" y="334670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renders even if the server is unreachable.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74736" y="2962656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311896" y="3127248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311896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860536" y="305409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 is world state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860536" y="334670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the Document → world is serialized.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3849624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4360" y="4014216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436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143000" y="3941064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packages/client is headless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143000" y="42336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 globals — portable to Node, bots.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15968" y="3849624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453128" y="4014216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45312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01768" y="3941064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Renderers reconcile to current state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001768" y="42336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SOM when ready; don't trust event order.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174736" y="3849624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311896" y="4014216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311896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860536" y="3941064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packages/client is renderer-neutral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860536" y="42336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pattern is the single seam where Three.js meets the client.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57200" y="4736592"/>
            <a:ext cx="3721608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94360" y="4901184"/>
            <a:ext cx="457200" cy="457200"/>
          </a:xfrm>
          <a:prstGeom prst="ellipse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436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143000" y="482803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policy lives in @atrium/interaction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143000" y="512064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in core; policy composes on top. Apps consume directly.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12 and 13 emerged from the pointer/interaction arc — abstraction shape validated by three real consumers.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8C8B0"/>
          </a:solidFill>
          <a:ln w="12700">
            <a:solidFill>
              <a:srgbClr val="28C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github.com/tparisi/atrium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640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0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complete  ·  Session 36 open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1691640" cy="12801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82512" y="1691640"/>
            <a:ext cx="1691640" cy="12801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2512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82512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1691640" cy="12801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93024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193024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03536" y="1691640"/>
            <a:ext cx="1691640" cy="1280160"/>
          </a:xfrm>
          <a:prstGeom prst="rect">
            <a:avLst/>
          </a:prstGeom>
          <a:solidFill>
            <a:srgbClr val="182B40"/>
          </a:solidFill>
          <a:ln w="9525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03536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0003536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fixtures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200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landings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52044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— @atrium/interaction package + selection model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34 — @atrium/renderer-three + PointerInputBridge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33 — Inspector click-to-select + drag-to-translate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32 — pointer event dispatch + capture + hover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27–31 — full animation arc with connect-time reconciliation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5760720"/>
            <a:ext cx="7132320" cy="457200"/>
          </a:xfrm>
          <a:prstGeom prst="rect">
            <a:avLst/>
          </a:prstGeom>
          <a:solidFill>
            <a:srgbClr val="0A1622"/>
          </a:solidFill>
          <a:ln w="12700">
            <a:solidFill>
              <a:srgbClr val="0A16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5760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8C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Browser, not platform. Open standards. All open source.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35  ·  May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Microsoft Macintosh PowerPoint</Application>
  <PresentationFormat>Widescreen</PresentationFormat>
  <Paragraphs>338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Atrium — Session 35</dc:title>
  <dc:subject>PptxGenJS Presentation</dc:subject>
  <dc:creator>Project Atrium</dc:creator>
  <cp:lastModifiedBy>Tony Parisi</cp:lastModifiedBy>
  <cp:revision>1</cp:revision>
  <dcterms:created xsi:type="dcterms:W3CDTF">2026-05-04T20:05:47Z</dcterms:created>
  <dcterms:modified xsi:type="dcterms:W3CDTF">2026-05-04T20:19:35Z</dcterms:modified>
</cp:coreProperties>
</file>