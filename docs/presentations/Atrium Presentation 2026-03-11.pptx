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3" r:id="rId8"/>
    <p:sldId id="261" r:id="rId9"/>
    <p:sldId id="262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82296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331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ATRIUM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  <a:latin typeface="Calibri"/>
              </a:rPr>
              <a:t>Open Metaverse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463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4"/>
                </a:solidFill>
                <a:latin typeface="Calibri"/>
              </a:rPr>
              <a:t>Project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3736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An open multiplayer 3D world platform built on glTF and WebSockets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200400"/>
            <a:ext cx="71323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dirty="0">
                <a:solidFill>
                  <a:srgbClr val="B0BECC"/>
                </a:solidFill>
                <a:latin typeface="Calibri"/>
              </a:rPr>
              <a:t>A starter kit for a</a:t>
            </a:r>
            <a:r>
              <a:rPr sz="1300" b="0" i="0" dirty="0">
                <a:solidFill>
                  <a:srgbClr val="B0BECC"/>
                </a:solidFill>
                <a:latin typeface="Calibri"/>
              </a:rPr>
              <a:t> Metaverse</a:t>
            </a:r>
            <a:r>
              <a:rPr lang="en-US" sz="1300" dirty="0">
                <a:solidFill>
                  <a:srgbClr val="B0BECC"/>
                </a:solidFill>
                <a:latin typeface="Calibri"/>
              </a:rPr>
              <a:t> </a:t>
            </a:r>
            <a:r>
              <a:rPr sz="1300" b="0" i="0" dirty="0">
                <a:solidFill>
                  <a:srgbClr val="B0BECC"/>
                </a:solidFill>
                <a:latin typeface="Calibri"/>
              </a:rPr>
              <a:t>for everyone, that nobody controls,
</a:t>
            </a:r>
            <a:r>
              <a:rPr lang="en-US" sz="1300" b="0" i="0" dirty="0">
                <a:solidFill>
                  <a:srgbClr val="B0BECC"/>
                </a:solidFill>
                <a:latin typeface="Calibri"/>
              </a:rPr>
              <a:t>fully </a:t>
            </a:r>
            <a:r>
              <a:rPr sz="1300" b="0" i="0" dirty="0">
                <a:solidFill>
                  <a:srgbClr val="B0BECC"/>
                </a:solidFill>
                <a:latin typeface="Calibri"/>
              </a:rPr>
              <a:t>built on open standards</a:t>
            </a:r>
            <a:r>
              <a:rPr lang="en-US" sz="1300" b="0" i="0" dirty="0">
                <a:solidFill>
                  <a:srgbClr val="B0BECC"/>
                </a:solidFill>
                <a:latin typeface="Calibri"/>
              </a:rPr>
              <a:t> and all open source.</a:t>
            </a:r>
            <a:endParaRPr sz="1300" b="0" i="0" dirty="0">
              <a:solidFill>
                <a:srgbClr val="B0BECC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97680" y="4389120"/>
            <a:ext cx="1371600" cy="2743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43982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glTF 2.0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4389120"/>
            <a:ext cx="1371600" cy="2743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06440" y="43982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WebSockets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4389120"/>
            <a:ext cx="1371600" cy="2743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43982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Three.js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4389120"/>
            <a:ext cx="1371600" cy="2743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3960" y="43982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Node.js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20" y="4389120"/>
            <a:ext cx="1371600" cy="2743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32720" y="4398264"/>
            <a:ext cx="1371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i="0" dirty="0" err="1">
                <a:solidFill>
                  <a:srgbClr val="FFFFFF"/>
                </a:solidFill>
                <a:latin typeface="Calibri"/>
              </a:rPr>
              <a:t>glTFTransform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976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C"/>
                </a:solidFill>
                <a:latin typeface="Calibri"/>
              </a:rPr>
              <a:t>Session 9 · March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34495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The Browser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B4"/>
                </a:solidFill>
                <a:latin typeface="Calibri"/>
              </a:rPr>
              <a:t>Core philosophy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64008" cy="228600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A3A"/>
                </a:solidFill>
                <a:latin typeface="Calibri"/>
              </a:rPr>
              <a:t>Navigate &amp;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4A5A"/>
                </a:solidFill>
                <a:latin typeface="Calibri"/>
              </a:rPr>
              <a:t>A world is a URL.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1965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4A5A"/>
                </a:solidFill>
                <a:latin typeface="Calibri"/>
              </a:rPr>
              <a:t>No account required to 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66543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4A5A"/>
                </a:solidFill>
                <a:latin typeface="Calibri"/>
              </a:rPr>
              <a:t>No app to install.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1887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0248" y="1188720"/>
            <a:ext cx="64008" cy="228600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12801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A3A"/>
                </a:solidFill>
                <a:latin typeface="Calibri"/>
              </a:rPr>
              <a:t>Static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57276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4A5A"/>
                </a:solidFill>
                <a:latin typeface="Calibri"/>
              </a:rPr>
              <a:t>glTF renders immediately.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81965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4A5A"/>
                </a:solidFill>
                <a:latin typeface="Calibri"/>
              </a:rPr>
              <a:t>Server connection is optional.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066543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4A5A"/>
                </a:solidFill>
                <a:latin typeface="Calibri"/>
              </a:rPr>
              <a:t>Graceful degradation built 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11887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74736" y="1188720"/>
            <a:ext cx="64008" cy="228600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1896" y="12801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A3A"/>
                </a:solidFill>
                <a:latin typeface="Calibri"/>
              </a:rPr>
              <a:t>Multiplayer Second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157276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4A5A"/>
                </a:solidFill>
                <a:latin typeface="Calibri"/>
              </a:rPr>
              <a:t>WebSocket layers on top.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181965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4A5A"/>
                </a:solidFill>
                <a:latin typeface="Calibri"/>
              </a:rPr>
              <a:t>World is visible before server connects.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066543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4A5A"/>
                </a:solidFill>
                <a:latin typeface="Calibri"/>
              </a:rPr>
              <a:t>Offline = scene still works.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03320"/>
            <a:ext cx="1146017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3703320"/>
            <a:ext cx="64008" cy="11887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79476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"Atrium should feel like a browser, not a platform. You navigate to a world,
it loads, you're there."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A3A"/>
                </a:solidFill>
                <a:latin typeface="Calibri"/>
              </a:rPr>
              <a:t>Load Sequence: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394960"/>
            <a:ext cx="1417320" cy="34747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53949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Fetch atrium.json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20" y="539496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A3A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30552" y="5394960"/>
            <a:ext cx="1417320" cy="34747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30552" y="53949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Render glTF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9312" y="539496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A3A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95344" y="5394960"/>
            <a:ext cx="1417320" cy="34747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95344" y="53949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Connect WS 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4104" y="539496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A3A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0136" y="5394960"/>
            <a:ext cx="1417320" cy="34747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0136" y="53949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Sync world state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34495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B4"/>
                </a:solidFill>
                <a:latin typeface="Calibri"/>
              </a:rPr>
              <a:t>Three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657600" cy="59436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Content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Standard glTF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A world is a .gltf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4883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Any glTF viewer can render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5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World metadata in extras.atrium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97479"/>
            <a:ext cx="32918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950" b="0" i="0" dirty="0">
                <a:solidFill>
                  <a:srgbClr val="1A2A3A"/>
                </a:solidFill>
                <a:latin typeface="Calibri"/>
              </a:rPr>
              <a:t>▸  </a:t>
            </a:r>
            <a:r>
              <a:rPr sz="950" b="0" i="0" dirty="0" err="1">
                <a:solidFill>
                  <a:srgbClr val="1A2A3A"/>
                </a:solidFill>
                <a:latin typeface="Calibri"/>
              </a:rPr>
              <a:t>maxUsers</a:t>
            </a:r>
            <a:r>
              <a:rPr sz="950" b="0" i="0" dirty="0">
                <a:solidFill>
                  <a:srgbClr val="1A2A3A"/>
                </a:solidFill>
                <a:latin typeface="Calibri"/>
              </a:rPr>
              <a:t>, navigation</a:t>
            </a:r>
            <a:r>
              <a:rPr lang="en-US" sz="950" b="0" i="0" dirty="0">
                <a:solidFill>
                  <a:srgbClr val="1A2A3A"/>
                </a:solidFill>
                <a:latin typeface="Calibri"/>
              </a:rPr>
              <a:t> info</a:t>
            </a:r>
            <a:r>
              <a:rPr sz="950" b="0" i="0" dirty="0">
                <a:solidFill>
                  <a:srgbClr val="1A2A3A"/>
                </a:solidFill>
                <a:latin typeface="Calibri"/>
              </a:rPr>
              <a:t>, </a:t>
            </a:r>
            <a:r>
              <a:rPr lang="en-US" sz="950" b="0" i="0" dirty="0">
                <a:solidFill>
                  <a:srgbClr val="1A2A3A"/>
                </a:solidFill>
                <a:latin typeface="Calibri"/>
              </a:rPr>
              <a:t>server hints</a:t>
            </a:r>
            <a:endParaRPr sz="950" b="0" i="0" dirty="0">
              <a:solidFill>
                <a:srgbClr val="1A2A3A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70248" y="114300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0248" y="1143000"/>
            <a:ext cx="3657600" cy="59436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7408" y="11704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Protocol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4813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SOP — Scene Object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87451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Lightweight WebSocket 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14883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14 message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42315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JSON Schema + Ajv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26974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Both client &amp; server validated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4736" y="114300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74736" y="1143000"/>
            <a:ext cx="36576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11896" y="11704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Runtime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14813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Server + 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5" y="242315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1A2A3A"/>
                </a:solidFill>
                <a:latin typeface="Calibri"/>
              </a:rPr>
              <a:t>▸  SOM — Scene Object Model API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26974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glTF is world state — SOM is the live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11460175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5440680"/>
            <a:ext cx="64008" cy="7315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54864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C"/>
                </a:solidFill>
                <a:latin typeface="Calibri"/>
              </a:rPr>
              <a:t>atrium.json  —  World manifest: entry point for a deployed world. Contains glTF URL + WebSocket server URL.
Separates deployment config from content. Paths resolved relative to manifest file.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34495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C"/>
                </a:solidFill>
                <a:latin typeface="Calibri"/>
              </a:rPr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A880EF-1930-0641-96EA-732100D20774}"/>
              </a:ext>
            </a:extLst>
          </p:cNvPr>
          <p:cNvSpPr txBox="1"/>
          <p:nvPr/>
        </p:nvSpPr>
        <p:spPr>
          <a:xfrm>
            <a:off x="8357615" y="187451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1A2A3A"/>
                </a:solidFill>
                <a:latin typeface="Calibri"/>
              </a:rPr>
              <a:t>▸  Node.js + </a:t>
            </a:r>
            <a:r>
              <a:rPr sz="950" b="0" i="0" dirty="0" err="1">
                <a:solidFill>
                  <a:srgbClr val="1A2A3A"/>
                </a:solidFill>
                <a:latin typeface="Calibri"/>
              </a:rPr>
              <a:t>glTF</a:t>
            </a:r>
            <a:r>
              <a:rPr sz="950" b="0" i="0" dirty="0">
                <a:solidFill>
                  <a:srgbClr val="1A2A3A"/>
                </a:solidFill>
                <a:latin typeface="Calibri"/>
              </a:rPr>
              <a:t>-Transform (server)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475CF5-56E5-415A-A433-4140A75F59D9}"/>
              </a:ext>
            </a:extLst>
          </p:cNvPr>
          <p:cNvSpPr txBox="1"/>
          <p:nvPr/>
        </p:nvSpPr>
        <p:spPr>
          <a:xfrm>
            <a:off x="8357615" y="2148839"/>
            <a:ext cx="32918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 dirty="0">
                <a:solidFill>
                  <a:srgbClr val="1A2A3A"/>
                </a:solidFill>
                <a:latin typeface="Calibri"/>
              </a:rPr>
              <a:t>▸  </a:t>
            </a:r>
            <a:r>
              <a:rPr sz="950" b="0" i="0" dirty="0" err="1">
                <a:solidFill>
                  <a:srgbClr val="1A2A3A"/>
                </a:solidFill>
                <a:latin typeface="Calibri"/>
              </a:rPr>
              <a:t>Three.js</a:t>
            </a:r>
            <a:r>
              <a:rPr sz="950" b="0" i="0" dirty="0">
                <a:solidFill>
                  <a:srgbClr val="1A2A3A"/>
                </a:solidFill>
                <a:latin typeface="Calibri"/>
              </a:rPr>
              <a:t> + </a:t>
            </a:r>
            <a:r>
              <a:rPr lang="en-US" sz="950" dirty="0" err="1">
                <a:solidFill>
                  <a:srgbClr val="1A2A3A"/>
                </a:solidFill>
              </a:rPr>
              <a:t>glTF</a:t>
            </a:r>
            <a:r>
              <a:rPr lang="en-US" sz="950" dirty="0">
                <a:solidFill>
                  <a:srgbClr val="1A2A3A"/>
                </a:solidFill>
              </a:rPr>
              <a:t>-Transform</a:t>
            </a:r>
            <a:r>
              <a:rPr sz="950" b="0" i="0" dirty="0">
                <a:solidFill>
                  <a:srgbClr val="1A2A3A"/>
                </a:solidFill>
                <a:latin typeface="Calibri"/>
              </a:rPr>
              <a:t> (client)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SOP — Scene Object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B4"/>
                </a:solidFill>
                <a:latin typeface="Calibri"/>
              </a:rPr>
              <a:t>14 message types · JSON over WebSocket · Ajv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B4"/>
                </a:solidFill>
                <a:latin typeface="Calibri"/>
              </a:rPr>
              <a:t>CLIENT →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88720" cy="2743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356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hello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45389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Initiate session, negotiate tick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55648"/>
            <a:ext cx="1188720" cy="2743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7739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1792224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Latency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1188720" cy="2743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1122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213055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Mutate a node field → broadcasts 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32304"/>
            <a:ext cx="1188720" cy="2743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4505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246888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Add a new node to the world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770632"/>
            <a:ext cx="1188720" cy="2743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27889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remove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280720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Remove a named node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08960"/>
            <a:ext cx="1188720" cy="2743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1272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314553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Broadcast observer position &amp;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D8EFF"/>
                </a:solidFill>
                <a:latin typeface="Calibri"/>
              </a:rPr>
              <a:t>SERVER → CLIENT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417320"/>
            <a:ext cx="1188720" cy="25603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142646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hello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144475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Session established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719072"/>
            <a:ext cx="1188720" cy="25603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172821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pong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17465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Response to ping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020824"/>
            <a:ext cx="1188720" cy="25603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2029967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tick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2048255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Heartbeat at negotiated interval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322576"/>
            <a:ext cx="1188720" cy="25603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233172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235000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Authoritative world state update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2624328"/>
            <a:ext cx="1188720" cy="25603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263347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add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265176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Node added to world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926080"/>
            <a:ext cx="1188720" cy="25603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0" y="293522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remove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07808" y="295351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Node removed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227832"/>
            <a:ext cx="1188720" cy="25603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9360" y="323697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join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07808" y="325526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Peer connected + position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3529584"/>
            <a:ext cx="1188720" cy="25603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0" y="353872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leave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07808" y="355701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Peer disconnected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3831336"/>
            <a:ext cx="1188720" cy="25603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09360" y="384048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07808" y="385876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Peer observer state relay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4133088"/>
            <a:ext cx="1188720" cy="25603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09360" y="414223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error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07808" y="416052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Error with code + message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257800"/>
            <a:ext cx="11460175" cy="9144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65760" y="5257800"/>
            <a:ext cx="64008" cy="91440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4360" y="532180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C"/>
                </a:solidFill>
                <a:latin typeface="Calibri"/>
              </a:rPr>
              <a:t>Key semantics:  send/set mutations are echoed to sender as confirmation  ·  view is NOT echoed back  ·  view is fire-and-forget, last-write-wins  ·  Avatar nodes live in the SOM scene graph — ephemeral per session, not persisted to world glTF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34495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SOM — Scene Object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B4"/>
                </a:solidFill>
                <a:latin typeface="Calibri"/>
              </a:rPr>
              <a:t>DOM-inspired API  ·  glTF-Transform wrapper  ·  symmetric server + client  ·  19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4"/>
                </a:solidFill>
                <a:latin typeface="Calibri"/>
              </a:rPr>
              <a:t>Key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2A3A"/>
                </a:solidFill>
                <a:latin typeface="Calibri"/>
              </a:rPr>
              <a:t>Property accessors delegate to glTF-Transform · no redundant state</a:t>
            </a:r>
          </a:p>
        </p:txBody>
      </p:sp>
      <p:sp>
        <p:nvSpPr>
          <p:cNvPr id="8" name="RectHdr1"/>
          <p:cNvSpPr/>
          <p:nvPr/>
        </p:nvSpPr>
        <p:spPr>
          <a:xfrm>
            <a:off x="365760" y="1664208"/>
            <a:ext cx="160020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xtHdr1"/>
          <p:cNvSpPr txBox="1"/>
          <p:nvPr/>
        </p:nvSpPr>
        <p:spPr>
          <a:xfrm>
            <a:off x="420000" y="1682496"/>
            <a:ext cx="150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10" name="RectHdr2"/>
          <p:cNvSpPr/>
          <p:nvPr/>
        </p:nvSpPr>
        <p:spPr>
          <a:xfrm>
            <a:off x="2057400" y="1664208"/>
            <a:ext cx="160020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xtHdr2"/>
          <p:cNvSpPr txBox="1"/>
          <p:nvPr/>
        </p:nvSpPr>
        <p:spPr>
          <a:xfrm>
            <a:off x="2100000" y="1682496"/>
            <a:ext cx="150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Wraps</a:t>
            </a:r>
          </a:p>
        </p:txBody>
      </p:sp>
      <p:sp>
        <p:nvSpPr>
          <p:cNvPr id="12" name="RectHdr3"/>
          <p:cNvSpPr/>
          <p:nvPr/>
        </p:nvSpPr>
        <p:spPr>
          <a:xfrm>
            <a:off x="3749040" y="1664208"/>
            <a:ext cx="256032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xtHdr3"/>
          <p:cNvSpPr txBox="1"/>
          <p:nvPr/>
        </p:nvSpPr>
        <p:spPr>
          <a:xfrm>
            <a:off x="3800000" y="1682496"/>
            <a:ext cx="246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20" name="R1C1"/>
          <p:cNvSpPr txBox="1"/>
          <p:nvPr/>
        </p:nvSpPr>
        <p:spPr>
          <a:xfrm>
            <a:off x="420000" y="1990000"/>
            <a:ext cx="15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2B4"/>
                </a:solidFill>
                <a:latin typeface="Consolas"/>
              </a:rPr>
              <a:t>SOMDocument</a:t>
            </a:r>
          </a:p>
        </p:txBody>
      </p:sp>
      <p:sp>
        <p:nvSpPr>
          <p:cNvPr id="21" name="R1C2"/>
          <p:cNvSpPr txBox="1"/>
          <p:nvPr/>
        </p:nvSpPr>
        <p:spPr>
          <a:xfrm>
            <a:off x="2100000" y="1990000"/>
            <a:ext cx="15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Document</a:t>
            </a:r>
          </a:p>
        </p:txBody>
      </p:sp>
      <p:sp>
        <p:nvSpPr>
          <p:cNvPr id="22" name="R1C3"/>
          <p:cNvSpPr txBox="1"/>
          <p:nvPr/>
        </p:nvSpPr>
        <p:spPr>
          <a:xfrm>
            <a:off x="3800000" y="1990000"/>
            <a:ext cx="246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Root entry point — analogue of browser document</a:t>
            </a:r>
          </a:p>
        </p:txBody>
      </p:sp>
      <p:sp>
        <p:nvSpPr>
          <p:cNvPr id="23" name="R2C1"/>
          <p:cNvSpPr txBox="1"/>
          <p:nvPr/>
        </p:nvSpPr>
        <p:spPr>
          <a:xfrm>
            <a:off x="420000" y="2290000"/>
            <a:ext cx="15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2B4"/>
                </a:solidFill>
                <a:latin typeface="Consolas"/>
              </a:rPr>
              <a:t>SOMNode</a:t>
            </a:r>
          </a:p>
        </p:txBody>
      </p:sp>
      <p:sp>
        <p:nvSpPr>
          <p:cNvPr id="24" name="R2C2"/>
          <p:cNvSpPr txBox="1"/>
          <p:nvPr/>
        </p:nvSpPr>
        <p:spPr>
          <a:xfrm>
            <a:off x="2100000" y="2290000"/>
            <a:ext cx="15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Node</a:t>
            </a:r>
          </a:p>
        </p:txBody>
      </p:sp>
      <p:sp>
        <p:nvSpPr>
          <p:cNvPr id="25" name="R2C3"/>
          <p:cNvSpPr txBox="1"/>
          <p:nvPr/>
        </p:nvSpPr>
        <p:spPr>
          <a:xfrm>
            <a:off x="3800000" y="2290000"/>
            <a:ext cx="246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Scene graph node — translation, rotation, children</a:t>
            </a:r>
          </a:p>
        </p:txBody>
      </p:sp>
      <p:sp>
        <p:nvSpPr>
          <p:cNvPr id="26" name="R3C1"/>
          <p:cNvSpPr txBox="1"/>
          <p:nvPr/>
        </p:nvSpPr>
        <p:spPr>
          <a:xfrm>
            <a:off x="420000" y="2590000"/>
            <a:ext cx="15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2B4"/>
                </a:solidFill>
                <a:latin typeface="Consolas"/>
              </a:rPr>
              <a:t>SOMMesh</a:t>
            </a:r>
          </a:p>
        </p:txBody>
      </p:sp>
      <p:sp>
        <p:nvSpPr>
          <p:cNvPr id="27" name="R3C2"/>
          <p:cNvSpPr txBox="1"/>
          <p:nvPr/>
        </p:nvSpPr>
        <p:spPr>
          <a:xfrm>
            <a:off x="2100000" y="2590000"/>
            <a:ext cx="15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Mesh</a:t>
            </a:r>
          </a:p>
        </p:txBody>
      </p:sp>
      <p:sp>
        <p:nvSpPr>
          <p:cNvPr id="28" name="R3C3"/>
          <p:cNvSpPr txBox="1"/>
          <p:nvPr/>
        </p:nvSpPr>
        <p:spPr>
          <a:xfrm>
            <a:off x="3800000" y="2590000"/>
            <a:ext cx="246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Primitives with PBR materials</a:t>
            </a:r>
          </a:p>
        </p:txBody>
      </p:sp>
      <p:sp>
        <p:nvSpPr>
          <p:cNvPr id="29" name="R4C1"/>
          <p:cNvSpPr txBox="1"/>
          <p:nvPr/>
        </p:nvSpPr>
        <p:spPr>
          <a:xfrm>
            <a:off x="420000" y="2890000"/>
            <a:ext cx="15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2B4"/>
                </a:solidFill>
                <a:latin typeface="Consolas"/>
              </a:rPr>
              <a:t>SOMCamera</a:t>
            </a:r>
          </a:p>
        </p:txBody>
      </p:sp>
      <p:sp>
        <p:nvSpPr>
          <p:cNvPr id="30" name="R4C2"/>
          <p:cNvSpPr txBox="1"/>
          <p:nvPr/>
        </p:nvSpPr>
        <p:spPr>
          <a:xfrm>
            <a:off x="2100000" y="2890000"/>
            <a:ext cx="15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Camera</a:t>
            </a:r>
          </a:p>
        </p:txBody>
      </p:sp>
      <p:sp>
        <p:nvSpPr>
          <p:cNvPr id="31" name="R4C3"/>
          <p:cNvSpPr txBox="1"/>
          <p:nvPr/>
        </p:nvSpPr>
        <p:spPr>
          <a:xfrm>
            <a:off x="3800000" y="2890000"/>
            <a:ext cx="246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Perspective / orthographic + yfov</a:t>
            </a:r>
          </a:p>
        </p:txBody>
      </p:sp>
      <p:sp>
        <p:nvSpPr>
          <p:cNvPr id="32" name="R5C1"/>
          <p:cNvSpPr txBox="1"/>
          <p:nvPr/>
        </p:nvSpPr>
        <p:spPr>
          <a:xfrm>
            <a:off x="420000" y="3190000"/>
            <a:ext cx="15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2B4"/>
                </a:solidFill>
                <a:latin typeface="Consolas"/>
              </a:rPr>
              <a:t>SOMAnimation</a:t>
            </a:r>
          </a:p>
        </p:txBody>
      </p:sp>
      <p:sp>
        <p:nvSpPr>
          <p:cNvPr id="33" name="R5C2"/>
          <p:cNvSpPr txBox="1"/>
          <p:nvPr/>
        </p:nvSpPr>
        <p:spPr>
          <a:xfrm>
            <a:off x="2100000" y="3190000"/>
            <a:ext cx="15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onsolas"/>
              </a:rPr>
              <a:t>Animation</a:t>
            </a:r>
          </a:p>
        </p:txBody>
      </p:sp>
      <p:sp>
        <p:nvSpPr>
          <p:cNvPr id="34" name="R5C3"/>
          <p:cNvSpPr txBox="1"/>
          <p:nvPr/>
        </p:nvSpPr>
        <p:spPr>
          <a:xfrm>
            <a:off x="3800000" y="3190000"/>
            <a:ext cx="246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play() / stop() — server stubs, client live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65760" y="35600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4"/>
                </a:solidFill>
                <a:latin typeface="Calibri"/>
              </a:rPr>
              <a:t>setPath()  —  Dot-Bracket Deep Mutation</a:t>
            </a:r>
          </a:p>
        </p:txBody>
      </p:sp>
      <p:sp>
        <p:nvSpPr>
          <p:cNvPr id="41" name="CodeBg"/>
          <p:cNvSpPr/>
          <p:nvPr/>
        </p:nvSpPr>
        <p:spPr>
          <a:xfrm>
            <a:off x="365760" y="3870000"/>
            <a:ext cx="5943600" cy="16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odeTxt"/>
          <p:cNvSpPr txBox="1"/>
          <p:nvPr/>
        </p:nvSpPr>
        <p:spPr>
          <a:xfrm>
            <a:off x="457200" y="3920000"/>
            <a:ext cx="576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" b="0" i="0">
                <a:solidFill>
                  <a:srgbClr val="7DD3FC"/>
                </a:solidFill>
                <a:latin typeface="Consolas"/>
              </a:rPr>
              <a:t>// Node-level property
som.setPath(node, "translation", [1, 0, 2]);
// Deep path — dot-bracket traversal
som.setPath(node, "mesh.primitives[0].material.baseColorFactor",
            [0, 1, 0, 1]);
// Camera and animation
som.setPath(node, "camera.yfov", 0.8);
som.setPath(node, "animation.loop", true);</a:t>
            </a:r>
          </a:p>
        </p:txBody>
      </p:sp>
      <p:sp>
        <p:nvSpPr>
          <p:cNvPr id="50" name="RightHdr"/>
          <p:cNvSpPr txBox="1"/>
          <p:nvPr/>
        </p:nvSpPr>
        <p:spPr>
          <a:xfrm>
            <a:off x="6583560" y="1078992"/>
            <a:ext cx="533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4"/>
                </a:solidFill>
                <a:latin typeface="Calibri"/>
              </a:rPr>
              <a:t>Design Notes</a:t>
            </a:r>
          </a:p>
        </p:txBody>
      </p:sp>
      <p:sp>
        <p:nvSpPr>
          <p:cNvPr id="51" name="RightBullets"/>
          <p:cNvSpPr txBox="1"/>
          <p:nvPr/>
        </p:nvSpPr>
        <p:spPr>
          <a:xfrm>
            <a:off x="6583560" y="1400000"/>
            <a:ext cx="533448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500"/>
              </a:spcAft>
            </a:pPr>
            <a:r>
              <a:rPr sz="1000" b="0" i="0">
                <a:solidFill>
                  <a:srgbClr val="1A2A3A"/>
                </a:solidFill>
                <a:latin typeface="Calibri"/>
              </a:rPr>
              <a:t>►  SOMDocument wraps a glTF-Transform Document — global som singleton is the browser document equivalent</a:t>
            </a:r>
          </a:p>
          <a:p>
            <a:pPr algn="l">
              <a:lnSpc>
                <a:spcPts val="1400"/>
              </a:lnSpc>
              <a:spcAft>
                <a:spcPts val="500"/>
              </a:spcAft>
            </a:pPr>
            <a:r>
              <a:rPr sz="1000" b="0" i="0">
                <a:solidFill>
                  <a:srgbClr val="1A2A3A"/>
                </a:solidFill>
                <a:latin typeface="Calibri"/>
              </a:rPr>
              <a:t>►  Simple values are properties, collections return arrays, methods only for operations with behavior</a:t>
            </a:r>
          </a:p>
          <a:p>
            <a:pPr algn="l">
              <a:lnSpc>
                <a:spcPts val="1400"/>
              </a:lnSpc>
              <a:spcAft>
                <a:spcPts val="500"/>
              </a:spcAft>
            </a:pPr>
            <a:r>
              <a:rPr sz="1000" b="0" i="0">
                <a:solidFill>
                  <a:srgbClr val="1A2A3A"/>
                </a:solidFill>
                <a:latin typeface="Calibri"/>
              </a:rPr>
              <a:t>►  JS get/set accessors delegate to glTF-Transform — no redundant state, Document is source of truth</a:t>
            </a:r>
          </a:p>
          <a:p>
            <a:pPr algn="l">
              <a:lnSpc>
                <a:spcPts val="1400"/>
              </a:lnSpc>
              <a:spcAft>
                <a:spcPts val="500"/>
              </a:spcAft>
            </a:pPr>
            <a:r>
              <a:rPr sz="1000" b="0" i="0">
                <a:solidFill>
                  <a:srgbClr val="1A2A3A"/>
                </a:solidFill>
                <a:latin typeface="Calibri"/>
              </a:rPr>
              <a:t>►  Symmetric — server and client both maintain a SOMDocument; DocumentView bridges SOM to Three.js on the client only</a:t>
            </a:r>
          </a:p>
          <a:p>
            <a:pPr algn="l">
              <a:lnSpc>
                <a:spcPts val="1400"/>
              </a:lnSpc>
              <a:spcAft>
                <a:spcPts val="500"/>
              </a:spcAft>
            </a:pPr>
            <a:r>
              <a:rPr sz="1000" b="0" i="0">
                <a:solidFill>
                  <a:srgbClr val="1A2A3A"/>
                </a:solidFill>
                <a:latin typeface="Calibri"/>
              </a:rPr>
              <a:t>►  glTF is world state — serializing the Document serializes the world, avatar nodes and all</a:t>
            </a:r>
          </a:p>
          <a:p>
            <a:pPr algn="l">
              <a:lnSpc>
                <a:spcPts val="1400"/>
              </a:lnSpc>
              <a:spcAft>
                <a:spcPts val="500"/>
              </a:spcAft>
            </a:pPr>
            <a:r>
              <a:rPr sz="1000" b="0" i="0">
                <a:solidFill>
                  <a:srgbClr val="1A2A3A"/>
                </a:solidFill>
                <a:latin typeface="Calibri"/>
              </a:rPr>
              <a:t>►  ingestNode(descriptor) — adds a full glTF node including geometry from a client add message</a:t>
            </a:r>
          </a:p>
        </p:txBody>
      </p:sp>
      <p:sp>
        <p:nvSpPr>
          <p:cNvPr id="60" name="FooterBg"/>
          <p:cNvSpPr/>
          <p:nvPr/>
        </p:nvSpPr>
        <p:spPr>
          <a:xfrm>
            <a:off x="0" y="5852160"/>
            <a:ext cx="12191695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FooterAccent"/>
          <p:cNvSpPr/>
          <p:nvPr/>
        </p:nvSpPr>
        <p:spPr>
          <a:xfrm>
            <a:off x="0" y="5852160"/>
            <a:ext cx="54864" cy="7315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FooterTxt"/>
          <p:cNvSpPr txBox="1"/>
          <p:nvPr/>
        </p:nvSpPr>
        <p:spPr>
          <a:xfrm>
            <a:off x="137160" y="5888280"/>
            <a:ext cx="118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Key design:  SOM node names map 1:1 to glTF JSON node names  ·  composition over subclassing — SOM wraps glTF-Transform  ·  setPath walks any dot-bracket path at runtime  ·  send/set SOP mutations drive setPath on the server</a:t>
            </a:r>
          </a:p>
        </p:txBody>
      </p:sp>
      <p:sp>
        <p:nvSpPr>
          <p:cNvPr id="63" name="PageNum"/>
          <p:cNvSpPr txBox="1"/>
          <p:nvPr/>
        </p:nvSpPr>
        <p:spPr>
          <a:xfrm>
            <a:off x="11800000" y="6600000"/>
            <a:ext cx="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What's Been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B4"/>
                </a:solidFill>
                <a:latin typeface="Calibri"/>
              </a:rPr>
              <a:t>Session 9 complete — all tests passing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3749039" cy="45720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15214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packages/protocol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763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14 SOP message schemas (JSON Schema draft-07)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92807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validate(direction, message) for client &amp;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798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41 passing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09728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79" y="1097280"/>
            <a:ext cx="3749039" cy="45720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7" y="115214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packages/server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62763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WebSocket server, session lifecycle, keepalive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92807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World state via glTF-Transform 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15798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Avatar nodes in SOM — full connect/disconnect lifecycle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42316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view message relay · SOM dump on connect · 32 passing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09728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75319" y="1097280"/>
            <a:ext cx="3749039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85047" y="115214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tests/client/index.html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62763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Single-file, no build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892807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Walk camera (WASD + mouse) 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15798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Peer avatars via SOM — capsule geometry, live position updates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42316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Loads glTF immediately — static first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3520440"/>
            <a:ext cx="3749039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357530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tests/fixtures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05079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space.gltf — ground plane, crate, lamp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31596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space.atrium.json — world manifest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8114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PBR materials, embedded geometry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4632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extras.atrium — full NavigationInfo object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79" y="352044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97679" y="3520440"/>
            <a:ext cx="3749039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07407" y="357530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@atrium/som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05079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DOM-inspired API over glTF-Transform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31596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setPath() — dot-bracket deep mutation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58114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Symmetric — server and client both use SOM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84632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19 passing tests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19" y="352044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75319" y="3520440"/>
            <a:ext cx="3749039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85047" y="357530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Repository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050791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pnpm monorepo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31596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ES modules, no TypeScript, no build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58114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Node.js v20 · node --test · 92 tests total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84632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3A"/>
                </a:solidFill>
                <a:latin typeface="Calibri"/>
              </a:rPr>
              <a:t>▸  github.com/tparisi/atrium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34495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Workstreams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B4"/>
                </a:solidFill>
                <a:latin typeface="Calibri"/>
              </a:rPr>
              <a:t>Design before code — three major threads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94760" cy="5120640"/>
          </a:xfrm>
          <a:prstGeom prst="rect">
            <a:avLst/>
          </a:prstGeom>
          <a:solidFill>
            <a:srgbClr val="142436"/>
          </a:solidFill>
          <a:ln w="19050">
            <a:solidFill>
              <a:srgbClr val="00C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7200" y="1234440"/>
            <a:ext cx="475488" cy="475488"/>
          </a:xfrm>
          <a:prstGeom prst="ellipse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52728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1234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User Object Extensions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15727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2B4"/>
                </a:solidFill>
                <a:latin typeface="Calibri"/>
              </a:rPr>
              <a:t>ATRIUM_user_object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90195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▸  Single vendor extension for all UO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945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▸  Self-describing property model with targets + onchange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48716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▸  Graceful degradation — plain glTF for non-Atrium viewers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779775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▸  Authoring → marketplace → instance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072383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▸  Open: scene graph fragment instancing, script context,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3364991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▸     type definition location, authority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" y="5852160"/>
            <a:ext cx="3291840" cy="2743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" y="58613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Design in progress 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1143000"/>
            <a:ext cx="3794760" cy="5120640"/>
          </a:xfrm>
          <a:prstGeom prst="rect">
            <a:avLst/>
          </a:prstGeom>
          <a:solidFill>
            <a:srgbClr val="142436"/>
          </a:solidFill>
          <a:ln w="1905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434840" y="1234440"/>
            <a:ext cx="475488" cy="475488"/>
          </a:xfrm>
          <a:prstGeom prst="ellipse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4840" y="1252728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1234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Avatar &amp; 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15727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8EFF"/>
                </a:solidFill>
                <a:latin typeface="Calibri"/>
              </a:rPr>
              <a:t>view message + NavigationInfo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1" y="190195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✓  view carries: position, look, move, velocity,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1" y="21945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✓  Unit vectors for look/move/up — no Euler/quaternion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1" y="248716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✓  up optional, defaults [0,1,0] — only sent for FLY/roll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1" y="2779775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▸  Dead reckoning on receiver, absolute position for correction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1" y="3072383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✓  NavigationInfo: mode (array), terrainFollowing, speed, updateRate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1" y="3364991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▸  Deferred: dead reckoning, send delta thresholds, FLY mode 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2271" y="5852160"/>
            <a:ext cx="3291840" cy="27432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62271" y="58613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Complete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1143000"/>
            <a:ext cx="3794760" cy="5120640"/>
          </a:xfrm>
          <a:prstGeom prst="rect">
            <a:avLst/>
          </a:prstGeom>
          <a:solidFill>
            <a:srgbClr val="142436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12480" y="123444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0" y="1252728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88551" y="1234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Real Browser Client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1" y="15727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Calibri"/>
              </a:rPr>
              <a:t>packages/client v0.1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190195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▸  URL bar — navigate to any atrium.json or .gltf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911" y="21945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▸  No SOP messaging panel (dev tool only)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911" y="248716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▸  Full first-person navigation + look/move/velocity broadcast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9911" y="2779775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▸  Proper avatar rendering (not just capsules)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9911" y="3072383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▸  World metadata display — name, user 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1" y="3364991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▸  Depends on: Avatar &amp; Navigation design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39911" y="5852160"/>
            <a:ext cx="3291840" cy="2743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39911" y="58613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Design in progress 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34495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User Object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B4"/>
                </a:solidFill>
                <a:latin typeface="Calibri"/>
              </a:rPr>
              <a:t>ATRIUM_user_object  —  design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4"/>
                </a:solidFill>
                <a:latin typeface="Calibri"/>
              </a:rPr>
              <a:t>The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▸  One vendor extension for all user-defined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▸  Type name inside the extension identifies the 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385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▸  Single ATRIUM_user_object schema, stable versioning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128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▸  Geometry stays in plain glTF nodes — graceful degradation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871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▸  Non-Atrium viewers render the object as normal glTF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61487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▸  extensionsUsed (not Required) — degradation expected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4"/>
                </a:solidFill>
                <a:latin typeface="Calibri"/>
              </a:rPr>
              <a:t>Property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02736"/>
            <a:ext cx="1143000" cy="237744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611879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62102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Logical property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77056"/>
            <a:ext cx="1143000" cy="237744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8862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89534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boolean / string / number  (drives editor UI)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51376"/>
            <a:ext cx="1143000" cy="237744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16052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169663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Default (type def) or current (instance)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25696"/>
            <a:ext cx="1143000" cy="237744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443983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node + property — direct glTF mapping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00016"/>
            <a:ext cx="1143000" cy="237744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709159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onchange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718303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Calibri"/>
              </a:rPr>
              <a:t>Script handler — called on value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078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8EFF"/>
                </a:solidFill>
                <a:latin typeface="Calibri"/>
              </a:rPr>
              <a:t>Instance in glTF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1389888"/>
            <a:ext cx="5486400" cy="283464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1444752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DD3FC"/>
                </a:solidFill>
                <a:latin typeface="Consolas"/>
              </a:rPr>
              <a:t>{
  "name": "record-player-01",
  "children": [1, 2, 3],
  "extensions": {
    "ATRIUM_user_object": {
      "type": "record_player",
      "properties": {
        "playing": true,
        "track": "a-love-supreme",
        "volume": 0.6
      }
    }
  }
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8EFF"/>
                </a:solidFill>
                <a:latin typeface="Calibri"/>
              </a:rPr>
              <a:t>The Authoring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6451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▸  Author UO in Atrium editor → publish to marketplace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9194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▸  User finds asset, drops into world via editor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1937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▸  Editor merges subtree into world glTF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4681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▸  Runtime: arrives as add SOP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74243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C"/>
                </a:solidFill>
                <a:latin typeface="Calibri"/>
              </a:rPr>
              <a:t>▸  All clients instance it — Atrium or not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34495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Avatar &amp; Navigation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B4"/>
                </a:solidFill>
                <a:latin typeface="Calibri"/>
              </a:rPr>
              <a:t>view message protocol  ·  NavigationInfo  ·  design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4"/>
                </a:solidFill>
                <a:latin typeface="Calibri"/>
              </a:rPr>
              <a:t>view Message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2A3A"/>
                </a:solidFill>
                <a:latin typeface="Calibri"/>
              </a:rPr>
              <a:t>Complete snapshot · all values absolute · dead reckoning on receiver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64208"/>
            <a:ext cx="141732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6824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664208"/>
            <a:ext cx="118872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47672" y="1682496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664208"/>
            <a:ext cx="658368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27832" y="168249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1664208"/>
            <a:ext cx="502920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59352" y="168249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1993392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7672" y="1993392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[x, y, z]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1993392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2B4"/>
                </a:solidFill>
                <a:latin typeface="Calibri"/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9352" y="1993392"/>
            <a:ext cx="7845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Absolute world position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12848"/>
            <a:ext cx="8686800" cy="9144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2267712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47672" y="2267712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[x, y, z]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7832" y="2267712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2B4"/>
                </a:solidFill>
                <a:latin typeface="Calibri"/>
              </a:rP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2267712"/>
            <a:ext cx="7845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Forward unit vector — camera direction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87168"/>
            <a:ext cx="8686800" cy="9144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" y="2542032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move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2542032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[x, y, z]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27832" y="2542032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2B4"/>
                </a:solidFill>
                <a:latin typeface="Calibri"/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9352" y="2542032"/>
            <a:ext cx="7845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Movement direction unit vector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761487"/>
            <a:ext cx="8686800" cy="9144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" y="2816351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velocity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816351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number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27832" y="2816351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2B4"/>
                </a:solidFill>
                <a:latin typeface="Calibri"/>
              </a:rP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59352" y="2816351"/>
            <a:ext cx="7845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Speed in meters per second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035807"/>
            <a:ext cx="8686800" cy="9144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" y="3090671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3090671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[x, y, z]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27832" y="3090671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  <a:latin typeface="Calibri"/>
              </a:rP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9352" y="3090671"/>
            <a:ext cx="7845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Up vector — omit in WALK, send for FLY/roll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310127"/>
            <a:ext cx="8686800" cy="9144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3794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4"/>
                </a:solidFill>
                <a:latin typeface="Calibri"/>
              </a:rPr>
              <a:t>NavigationInfo  (extras.atrium)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096512"/>
            <a:ext cx="5303520" cy="2103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4151376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DD3FC"/>
                </a:solidFill>
                <a:latin typeface="Consolas"/>
              </a:rPr>
              <a:t>"navigation": {
  "mode": ["WALK", "FLY", "ORBIT", "TELEPORT"],
  "terrainFollowing": true,
  "speed": { "default": 1.4, "min": 0.5, "max": 5.0 },
  "collision": { "enabled": false },
  "updateRate": { "positionInterval": 1000, "maxViewRate": 20 }
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406908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A3A"/>
                </a:solidFill>
                <a:latin typeface="Calibri"/>
              </a:rPr>
              <a:t>Field notes: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36168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mode — array: WALK / FLY / ORBIT / TELEPORT, first is default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63600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terrainFollowing — avatar stays on ground surface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491032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updateRate — positionInterval (ms) + maxViewRate (msg/s)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18464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speed — default/min/max in m/s (matches velocity field)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54589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collision — object or omit; proxy = named node name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34495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Key Decisions &amp; Deferred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B4"/>
                </a:solidFill>
                <a:latin typeface="Calibri"/>
              </a:rPr>
              <a:t>What's locked in · what's still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✓  Locked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HTTP serving stays separate — WebSocket server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55064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Avatar nodes live in the SOM — ephemeral per session, not persisted to world glTF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view message — fire-and-forget, last-write-wins, not echoed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85416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Walk camera is the default mode (not Orbit)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5059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atrium.json manifest separates deployment config from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1576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Static first, multiplayer second — glTF renders before server connects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80944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ATRIUM_user_object — one extension for all user-defined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4612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Geometry in plain glTF nodes — graceful degradation always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11296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view fields: position + look + move + velocity + up (optional)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7647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3A"/>
                </a:solidFill>
                <a:latin typeface="Calibri"/>
              </a:rPr>
              <a:t>▸  NavigationInfo in extras.atrium — migrates to ATRIUM_world extension 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078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⟳  Deferred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389888"/>
            <a:ext cx="2011680" cy="2468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40817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9"/>
                </a:solidFill>
                <a:latin typeface="Calibri"/>
              </a:rPr>
              <a:t>Flaky disconnect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1426464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3A"/>
                </a:solidFill>
                <a:latin typeface="Calibri"/>
              </a:rPr>
              <a:t>Race condition in session.test.js #19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682496"/>
            <a:ext cx="2011680" cy="2468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70078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9"/>
                </a:solidFill>
                <a:latin typeface="Calibri"/>
              </a:rPr>
              <a:t>README / TESTING.md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1719072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3A"/>
                </a:solidFill>
                <a:latin typeface="Calibri"/>
              </a:rPr>
              <a:t>Dev workflow documentation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975104"/>
            <a:ext cx="2011680" cy="2468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199339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9"/>
                </a:solidFill>
                <a:latin typeface="Calibri"/>
              </a:rPr>
              <a:t>glTF extension package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2011680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3A"/>
                </a:solidFill>
                <a:latin typeface="Calibri"/>
              </a:rPr>
              <a:t>ATRIUM_world + ATRIUM_avatar schemas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267712"/>
            <a:ext cx="2011680" cy="2468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22860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9"/>
                </a:solidFill>
                <a:latin typeface="Calibri"/>
              </a:rPr>
              <a:t>packages/client promotion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2304288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3A"/>
                </a:solidFill>
                <a:latin typeface="Calibri"/>
              </a:rPr>
              <a:t>When design is more settled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560320"/>
            <a:ext cx="2011680" cy="2468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257860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9"/>
                </a:solidFill>
                <a:latin typeface="Calibri"/>
              </a:rPr>
              <a:t>Script execution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259689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3A"/>
                </a:solidFill>
                <a:latin typeface="Calibri"/>
              </a:rPr>
              <a:t>Sandbox, trust model, client vs server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852927"/>
            <a:ext cx="2011680" cy="2468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2871215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9"/>
                </a:solidFill>
                <a:latin typeface="Calibri"/>
              </a:rPr>
              <a:t>Scene graph instancing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2889503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3A"/>
                </a:solidFill>
                <a:latin typeface="Calibri"/>
              </a:rPr>
              <a:t>UO type → multiple instances in glTF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3145535"/>
            <a:ext cx="2011680" cy="2468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316382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9"/>
                </a:solidFill>
                <a:latin typeface="Calibri"/>
              </a:rPr>
              <a:t>Type definition location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3648" y="3182111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3A"/>
                </a:solidFill>
                <a:latin typeface="Calibri"/>
              </a:rPr>
              <a:t>Inline vs URI reference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3438143"/>
            <a:ext cx="2011680" cy="2468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3456431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9"/>
                </a:solidFill>
                <a:latin typeface="Calibri"/>
              </a:rPr>
              <a:t>Collision implementation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13648" y="3474719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3A"/>
                </a:solidFill>
                <a:latin typeface="Calibri"/>
              </a:rPr>
              <a:t>Proxy mesh, physics material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3730751"/>
            <a:ext cx="2011680" cy="2468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60" y="37490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9"/>
                </a:solidFill>
                <a:latin typeface="Calibri"/>
              </a:rPr>
              <a:t>Viewpoints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13648" y="3767327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3A"/>
                </a:solidFill>
                <a:latin typeface="Calibri"/>
              </a:rPr>
              <a:t>Named cameras, default entry point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4023359"/>
            <a:ext cx="2011680" cy="2468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37960" y="4041647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24009"/>
                </a:solidFill>
                <a:latin typeface="Calibri"/>
              </a:rPr>
              <a:t>glXF alignment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13648" y="4059935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3A"/>
                </a:solidFill>
                <a:latin typeface="Calibri"/>
              </a:rPr>
              <a:t>When Khronos spec stabilizes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34495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C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73152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2860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ATRIUM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8803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>github.com/tparisi/atrium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058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How to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508760"/>
            <a:ext cx="7223760" cy="438912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1600200"/>
            <a:ext cx="6995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DD3FC"/>
                </a:solidFill>
                <a:latin typeface="Consolas"/>
              </a:rPr>
              <a:t>git clone https://github.com/tparisi/atrium.git
cd atrium &amp;&amp; pnpm install
# Run tests
pnpm --filter @atrium/protocol test
pnpm --filter @atrium/server test
# Terminal 1 — world server
WORLD_PATH=tests/fixtures/space.gltf node packages/server/src/index.js
# Terminal 2 — HTTP server
npx serve -l 5173 tests/
# Open client
http://localhost:5173/client/index.html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08076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C"/>
                </a:solidFill>
                <a:latin typeface="Calibri"/>
              </a:rPr>
              <a:t>Session 9 complete · 41 protocol · 19 SOM · 32 server · 92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34495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C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2099</Words>
  <Application>Microsoft Macintosh PowerPoint</Application>
  <PresentationFormat>Widescreen</PresentationFormat>
  <Paragraphs>303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Tony Parisi</cp:lastModifiedBy>
  <cp:revision>2</cp:revision>
  <dcterms:created xsi:type="dcterms:W3CDTF">2013-01-27T09:14:16Z</dcterms:created>
  <dcterms:modified xsi:type="dcterms:W3CDTF">2026-03-10T06:07:05Z</dcterms:modified>
  <cp:category/>
</cp:coreProperties>
</file>